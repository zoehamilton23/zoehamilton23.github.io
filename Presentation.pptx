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67" r:id="rId4"/>
    <p:sldId id="258" r:id="rId5"/>
    <p:sldId id="259" r:id="rId6"/>
    <p:sldId id="260" r:id="rId7"/>
    <p:sldId id="265" r:id="rId8"/>
    <p:sldId id="261" r:id="rId9"/>
    <p:sldId id="262" r:id="rId10"/>
    <p:sldId id="263" r:id="rId11"/>
    <p:sldId id="266"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D864D3-E900-CFF7-071C-BE5BED3C3217}" v="2227" dt="2024-03-26T21:05:39.2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3/26/2024</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93420958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2FF5DD9-2C52-442D-92E2-8072C0C3D7CD}" type="datetimeFigureOut">
              <a:rPr lang="en-US" dirty="0"/>
              <a:t>3/26/2024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649804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3/26/2024</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28908472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DBD3D6FB-79CC-4683-A046-BBE785BA1BED}" type="datetimeFigureOut">
              <a:rPr lang="en-US" dirty="0"/>
              <a:t>3/26/2024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679525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512B3E8-48F1-4B23-8498-D8A04A81EC9C}" type="datetimeFigureOut">
              <a:rPr lang="en-US" dirty="0"/>
              <a:t>3/26/2024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149248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0B90D90-AA62-404D-A741-635B4370F9CB}" type="datetimeFigureOut">
              <a:rPr lang="en-US" dirty="0"/>
              <a:t>3/26/2024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7815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3/26/2024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2603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dirty="0"/>
              <a:t>Click to edit Master title style</a:t>
            </a:r>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3/26/2024</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14525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dirty="0"/>
              <a:t>Click to edit Master title style</a:t>
            </a:r>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3/26/2024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21980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11A6AA8-A04B-4104-9AE2-BD48D340E27F}" type="datetimeFigureOut">
              <a:rPr lang="en-US" dirty="0"/>
              <a:t>3/26/2024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415725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4E0BF79-FAC6-4A96-8DE1-F7B82E2E1652}" type="datetimeFigureOut">
              <a:rPr lang="en-US" dirty="0"/>
              <a:t>3/26/2024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349393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3/26/2024</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5680776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NUMa0QkPzn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C9N6k3nfwao"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L7rB_Iwlh8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usa.kaspersky.com/resource-center/preemptive-safety/impacts-of-technology-on-health" TargetMode="External"/><Relationship Id="rId2" Type="http://schemas.openxmlformats.org/officeDocument/2006/relationships/hyperlink" Target="http://www.asanet.org/footnotes-article/technology-use-leading-demise-our-mental-health-and-well-being/" TargetMode="External"/><Relationship Id="rId1" Type="http://schemas.openxmlformats.org/officeDocument/2006/relationships/slideLayout" Target="../slideLayouts/slideLayout2.xml"/><Relationship Id="rId6" Type="http://schemas.openxmlformats.org/officeDocument/2006/relationships/hyperlink" Target="http://psychcentral.com/health/how-the-media-affects-body-image#:~:text=Social%20media%20can%20have%20a,beauty%20standards%20and%20unhealthy%20comparisons" TargetMode="External"/><Relationship Id="rId5" Type="http://schemas.openxmlformats.org/officeDocument/2006/relationships/hyperlink" Target="http://www.switchliving.com.au/student-guide/technology-and-trends/technology-positive-impact-on-society/" TargetMode="External"/><Relationship Id="rId4" Type="http://schemas.openxmlformats.org/officeDocument/2006/relationships/hyperlink" Target="http://therapyutah.org/impact-of-heavy-technology-use-on-mental-healt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9705199F-B36C-414E-A6BB-FABF4D3072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gradFill>
            <a:gsLst>
              <a:gs pos="0">
                <a:schemeClr val="bg2">
                  <a:tint val="90000"/>
                  <a:shade val="92000"/>
                  <a:satMod val="160000"/>
                </a:schemeClr>
              </a:gs>
              <a:gs pos="77000">
                <a:schemeClr val="bg2">
                  <a:tint val="100000"/>
                  <a:shade val="73000"/>
                  <a:satMod val="155000"/>
                </a:schemeClr>
              </a:gs>
              <a:gs pos="100000">
                <a:schemeClr val="bg2">
                  <a:tint val="100000"/>
                  <a:shade val="67000"/>
                  <a:satMod val="14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7" name="Picture 26" descr="An abstract burst of blue and pink">
            <a:extLst>
              <a:ext uri="{FF2B5EF4-FFF2-40B4-BE49-F238E27FC236}">
                <a16:creationId xmlns:a16="http://schemas.microsoft.com/office/drawing/2014/main" id="{30223D35-B6BC-6B7C-A67E-C3EEA4152050}"/>
              </a:ext>
            </a:extLst>
          </p:cNvPr>
          <p:cNvPicPr>
            <a:picLocks noChangeAspect="1"/>
          </p:cNvPicPr>
          <p:nvPr/>
        </p:nvPicPr>
        <p:blipFill rotWithShape="1">
          <a:blip r:embed="rId2">
            <a:duotone>
              <a:schemeClr val="accent1">
                <a:shade val="45000"/>
                <a:satMod val="135000"/>
              </a:schemeClr>
              <a:prstClr val="white"/>
            </a:duotone>
            <a:alphaModFix amt="75000"/>
          </a:blip>
          <a:srcRect/>
          <a:stretch/>
        </p:blipFill>
        <p:spPr>
          <a:xfrm>
            <a:off x="20" y="975"/>
            <a:ext cx="12191980" cy="6858000"/>
          </a:xfrm>
          <a:prstGeom prst="rect">
            <a:avLst/>
          </a:prstGeom>
        </p:spPr>
      </p:pic>
      <p:sp>
        <p:nvSpPr>
          <p:cNvPr id="33" name="Rectangle 32">
            <a:extLst>
              <a:ext uri="{FF2B5EF4-FFF2-40B4-BE49-F238E27FC236}">
                <a16:creationId xmlns:a16="http://schemas.microsoft.com/office/drawing/2014/main" id="{84627786-4F60-4021-9795-758641BA1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35" name="Rectangle 34">
            <a:extLst>
              <a:ext uri="{FF2B5EF4-FFF2-40B4-BE49-F238E27FC236}">
                <a16:creationId xmlns:a16="http://schemas.microsoft.com/office/drawing/2014/main" id="{D90F9405-C7F1-4A15-9D6E-029E64BDB6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2" name="Title 1"/>
          <p:cNvSpPr>
            <a:spLocks noGrp="1"/>
          </p:cNvSpPr>
          <p:nvPr>
            <p:ph type="ctrTitle"/>
          </p:nvPr>
        </p:nvSpPr>
        <p:spPr>
          <a:xfrm>
            <a:off x="1561708" y="2091263"/>
            <a:ext cx="9068586" cy="2590800"/>
          </a:xfrm>
        </p:spPr>
        <p:txBody>
          <a:bodyPr>
            <a:normAutofit/>
          </a:bodyPr>
          <a:lstStyle/>
          <a:p>
            <a:r>
              <a:rPr lang="en-US"/>
              <a:t>How Technology Affects people </a:t>
            </a:r>
          </a:p>
        </p:txBody>
      </p:sp>
      <p:sp>
        <p:nvSpPr>
          <p:cNvPr id="3" name="Subtitle 2"/>
          <p:cNvSpPr>
            <a:spLocks noGrp="1"/>
          </p:cNvSpPr>
          <p:nvPr>
            <p:ph type="subTitle" idx="1"/>
          </p:nvPr>
        </p:nvSpPr>
        <p:spPr>
          <a:xfrm>
            <a:off x="1562100" y="4682062"/>
            <a:ext cx="9070848" cy="457201"/>
          </a:xfrm>
        </p:spPr>
        <p:txBody>
          <a:bodyPr vert="horz" lIns="91440" tIns="45720" rIns="91440" bIns="45720" rtlCol="0" anchor="t">
            <a:normAutofit/>
          </a:bodyPr>
          <a:lstStyle/>
          <a:p>
            <a:r>
              <a:rPr lang="en-US" sz="1800" dirty="0"/>
              <a:t>Zoe Hamilton</a:t>
            </a:r>
          </a:p>
        </p:txBody>
      </p:sp>
      <p:sp>
        <p:nvSpPr>
          <p:cNvPr id="38" name="Rectangle 37">
            <a:extLst>
              <a:ext uri="{FF2B5EF4-FFF2-40B4-BE49-F238E27FC236}">
                <a16:creationId xmlns:a16="http://schemas.microsoft.com/office/drawing/2014/main" id="{3A3CBFE3-B3CA-4294-B713-02ED8C9F1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1" name="Straight Connector 40">
            <a:extLst>
              <a:ext uri="{FF2B5EF4-FFF2-40B4-BE49-F238E27FC236}">
                <a16:creationId xmlns:a16="http://schemas.microsoft.com/office/drawing/2014/main" id="{280576F0-D548-4154-ABCA-AF48FBF5E5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1ACCC95-7D84-4C2E-9BDB-E109CB84E7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A5FF440-1D03-4653-99A9-E2AD11BB6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9F9D1-6BE0-0C04-35EF-9FD6D9F07191}"/>
              </a:ext>
            </a:extLst>
          </p:cNvPr>
          <p:cNvSpPr>
            <a:spLocks noGrp="1"/>
          </p:cNvSpPr>
          <p:nvPr>
            <p:ph type="title"/>
          </p:nvPr>
        </p:nvSpPr>
        <p:spPr/>
        <p:txBody>
          <a:bodyPr/>
          <a:lstStyle/>
          <a:p>
            <a:r>
              <a:rPr lang="en-US"/>
              <a:t>Technology Use </a:t>
            </a:r>
          </a:p>
        </p:txBody>
      </p:sp>
      <p:sp>
        <p:nvSpPr>
          <p:cNvPr id="5" name="Content Placeholder 4">
            <a:extLst>
              <a:ext uri="{FF2B5EF4-FFF2-40B4-BE49-F238E27FC236}">
                <a16:creationId xmlns:a16="http://schemas.microsoft.com/office/drawing/2014/main" id="{A861F747-AD2D-EC3C-FAB2-4DB6F020BDB6}"/>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"Over 5 billion people around the world use the Internet, with </a:t>
            </a:r>
            <a:r>
              <a:rPr lang="en-US" dirty="0">
                <a:ea typeface="+mn-lt"/>
                <a:cs typeface="+mn-lt"/>
              </a:rPr>
              <a:t>over 4.5 million using social media (</a:t>
            </a:r>
            <a:r>
              <a:rPr lang="en-US" dirty="0" err="1">
                <a:ea typeface="+mn-lt"/>
                <a:cs typeface="+mn-lt"/>
              </a:rPr>
              <a:t>asanet</a:t>
            </a:r>
            <a:r>
              <a:rPr lang="en-US" dirty="0">
                <a:ea typeface="+mn-lt"/>
                <a:cs typeface="+mn-lt"/>
              </a:rPr>
              <a:t>)". </a:t>
            </a:r>
          </a:p>
          <a:p>
            <a:pPr>
              <a:buClr>
                <a:srgbClr val="262626"/>
              </a:buClr>
            </a:pPr>
            <a:r>
              <a:rPr lang="en-US" dirty="0"/>
              <a:t>The age group of people using internet and social media the most are teenagers and young/middle aged adults. </a:t>
            </a:r>
          </a:p>
          <a:p>
            <a:pPr>
              <a:buClr>
                <a:srgbClr val="262626"/>
              </a:buClr>
            </a:pPr>
            <a:r>
              <a:rPr lang="en-US" dirty="0"/>
              <a:t>We use technology every day whether you are inside all day watching TV or on your phone or if you go to the store using your car. </a:t>
            </a:r>
          </a:p>
          <a:p>
            <a:pPr>
              <a:buClr>
                <a:srgbClr val="262626"/>
              </a:buClr>
            </a:pPr>
            <a:r>
              <a:rPr lang="en-US" dirty="0">
                <a:solidFill>
                  <a:srgbClr val="000000"/>
                </a:solidFill>
                <a:ea typeface="+mn-lt"/>
                <a:cs typeface="+mn-lt"/>
              </a:rPr>
              <a:t>"The lowest proportion of use is seen among older adults, with 75 percent of community-dwelling older adults aged 65 and older in the United States using the Internet compared to 99 percent of individuals aged 18–29, with even fewer older adults using social media (</a:t>
            </a:r>
            <a:r>
              <a:rPr lang="en-US" dirty="0">
                <a:ea typeface="+mn-lt"/>
                <a:cs typeface="+mn-lt"/>
              </a:rPr>
              <a:t>only 45 percent</a:t>
            </a:r>
            <a:r>
              <a:rPr lang="en-US" dirty="0">
                <a:solidFill>
                  <a:srgbClr val="000000"/>
                </a:solidFill>
                <a:ea typeface="+mn-lt"/>
                <a:cs typeface="+mn-lt"/>
              </a:rPr>
              <a:t>)(</a:t>
            </a:r>
            <a:r>
              <a:rPr lang="en-US" dirty="0" err="1">
                <a:solidFill>
                  <a:srgbClr val="000000"/>
                </a:solidFill>
                <a:ea typeface="+mn-lt"/>
                <a:cs typeface="+mn-lt"/>
              </a:rPr>
              <a:t>asanet</a:t>
            </a:r>
            <a:r>
              <a:rPr lang="en-US" dirty="0">
                <a:solidFill>
                  <a:srgbClr val="000000"/>
                </a:solidFill>
                <a:ea typeface="+mn-lt"/>
                <a:cs typeface="+mn-lt"/>
              </a:rPr>
              <a:t>)". </a:t>
            </a:r>
          </a:p>
          <a:p>
            <a:pPr>
              <a:buClr>
                <a:srgbClr val="262626"/>
              </a:buClr>
            </a:pPr>
            <a:r>
              <a:rPr lang="en-US" dirty="0"/>
              <a:t>We use technology for communication, entertainment, education, healthcare, transportation, and a lot more.</a:t>
            </a:r>
          </a:p>
          <a:p>
            <a:pPr>
              <a:buClr>
                <a:srgbClr val="262626"/>
              </a:buClr>
            </a:pPr>
            <a:endParaRPr lang="en-US" dirty="0"/>
          </a:p>
        </p:txBody>
      </p:sp>
    </p:spTree>
    <p:extLst>
      <p:ext uri="{BB962C8B-B14F-4D97-AF65-F5344CB8AC3E}">
        <p14:creationId xmlns:p14="http://schemas.microsoft.com/office/powerpoint/2010/main" val="2225452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A0C4A-936F-7725-2595-92C7CCD059EB}"/>
              </a:ext>
            </a:extLst>
          </p:cNvPr>
          <p:cNvSpPr>
            <a:spLocks noGrp="1"/>
          </p:cNvSpPr>
          <p:nvPr>
            <p:ph type="title"/>
          </p:nvPr>
        </p:nvSpPr>
        <p:spPr/>
        <p:txBody>
          <a:bodyPr/>
          <a:lstStyle/>
          <a:p>
            <a:r>
              <a:rPr lang="en-US"/>
              <a:t>Technology is Addicted</a:t>
            </a:r>
          </a:p>
        </p:txBody>
      </p:sp>
      <p:sp>
        <p:nvSpPr>
          <p:cNvPr id="3" name="Content Placeholder 2">
            <a:extLst>
              <a:ext uri="{FF2B5EF4-FFF2-40B4-BE49-F238E27FC236}">
                <a16:creationId xmlns:a16="http://schemas.microsoft.com/office/drawing/2014/main" id="{DC5E1320-1A12-EC4D-E8DF-F7E28826F96D}"/>
              </a:ext>
            </a:extLst>
          </p:cNvPr>
          <p:cNvSpPr>
            <a:spLocks noGrp="1"/>
          </p:cNvSpPr>
          <p:nvPr>
            <p:ph idx="1"/>
          </p:nvPr>
        </p:nvSpPr>
        <p:spPr/>
        <p:txBody>
          <a:bodyPr vert="horz" lIns="91440" tIns="45720" rIns="91440" bIns="45720" rtlCol="0" anchor="t">
            <a:normAutofit/>
          </a:bodyPr>
          <a:lstStyle/>
          <a:p>
            <a:r>
              <a:rPr lang="en-US" dirty="0">
                <a:ea typeface="+mn-lt"/>
                <a:cs typeface="+mn-lt"/>
                <a:hlinkClick r:id="rId2"/>
              </a:rPr>
              <a:t>https://www.youtube.com/watch?v=NUMa0QkPzns</a:t>
            </a:r>
            <a:endParaRPr lang="en-US"/>
          </a:p>
        </p:txBody>
      </p:sp>
    </p:spTree>
    <p:extLst>
      <p:ext uri="{BB962C8B-B14F-4D97-AF65-F5344CB8AC3E}">
        <p14:creationId xmlns:p14="http://schemas.microsoft.com/office/powerpoint/2010/main" val="899568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7C39-819F-25CD-0EB3-703AE30DB6E7}"/>
              </a:ext>
            </a:extLst>
          </p:cNvPr>
          <p:cNvSpPr>
            <a:spLocks noGrp="1"/>
          </p:cNvSpPr>
          <p:nvPr>
            <p:ph type="title"/>
          </p:nvPr>
        </p:nvSpPr>
        <p:spPr/>
        <p:txBody>
          <a:bodyPr>
            <a:normAutofit fontScale="90000"/>
          </a:bodyPr>
          <a:lstStyle/>
          <a:p>
            <a:r>
              <a:rPr lang="en-US"/>
              <a:t>Mental Health In Kids, Teenagers, and Young Adults</a:t>
            </a:r>
          </a:p>
        </p:txBody>
      </p:sp>
      <p:sp>
        <p:nvSpPr>
          <p:cNvPr id="3" name="Content Placeholder 2">
            <a:extLst>
              <a:ext uri="{FF2B5EF4-FFF2-40B4-BE49-F238E27FC236}">
                <a16:creationId xmlns:a16="http://schemas.microsoft.com/office/drawing/2014/main" id="{42CCC8B1-6B78-E2B8-2281-703416AC76B5}"/>
              </a:ext>
            </a:extLst>
          </p:cNvPr>
          <p:cNvSpPr>
            <a:spLocks noGrp="1"/>
          </p:cNvSpPr>
          <p:nvPr>
            <p:ph idx="1"/>
          </p:nvPr>
        </p:nvSpPr>
        <p:spPr/>
        <p:txBody>
          <a:bodyPr vert="horz" lIns="91440" tIns="45720" rIns="91440" bIns="45720" rtlCol="0" anchor="t">
            <a:normAutofit/>
          </a:bodyPr>
          <a:lstStyle/>
          <a:p>
            <a:r>
              <a:rPr lang="en-US" dirty="0"/>
              <a:t>Kids, Teenager, and Young Adults are using technology constantly, whether that be social media, school, or for work. </a:t>
            </a:r>
          </a:p>
          <a:p>
            <a:pPr>
              <a:buClr>
                <a:srgbClr val="262626"/>
              </a:buClr>
            </a:pPr>
            <a:r>
              <a:rPr lang="en-US" dirty="0"/>
              <a:t>When it comes to social media it tends to have its pros and cons.</a:t>
            </a:r>
          </a:p>
          <a:p>
            <a:pPr>
              <a:buClr>
                <a:srgbClr val="262626"/>
              </a:buClr>
            </a:pPr>
            <a:r>
              <a:rPr lang="en-US" dirty="0"/>
              <a:t>Social media shows the lives of our favorite celebrities and influencers, and it looks like the perfect life, but in reality, it's not all that perfect.</a:t>
            </a:r>
          </a:p>
          <a:p>
            <a:pPr>
              <a:buClr>
                <a:srgbClr val="262626"/>
              </a:buClr>
            </a:pPr>
            <a:r>
              <a:rPr lang="en-US" dirty="0"/>
              <a:t>Celebrities and influencers make sure that their lives look perfect, they are happy, they have money, and all of those things. Which form their audience point of view makes them feel like their lives are not that good. </a:t>
            </a:r>
          </a:p>
          <a:p>
            <a:pPr>
              <a:buClr>
                <a:srgbClr val="262626"/>
              </a:buClr>
            </a:pPr>
            <a:r>
              <a:rPr lang="en-US" dirty="0">
                <a:solidFill>
                  <a:srgbClr val="000000"/>
                </a:solidFill>
                <a:ea typeface="+mn-lt"/>
                <a:cs typeface="+mn-lt"/>
              </a:rPr>
              <a:t>An example on how social media gets into our heads is "Inducing anxiety because someone hasn’t replied quickly enough to your WhatsApp or text message, or constantly checking your social media feeds to see how many likes your last post received (</a:t>
            </a:r>
            <a:r>
              <a:rPr lang="en-US" dirty="0" err="1">
                <a:solidFill>
                  <a:srgbClr val="000000"/>
                </a:solidFill>
                <a:ea typeface="+mn-lt"/>
                <a:cs typeface="+mn-lt"/>
              </a:rPr>
              <a:t>kaspersky</a:t>
            </a:r>
            <a:r>
              <a:rPr lang="en-US" dirty="0">
                <a:solidFill>
                  <a:srgbClr val="000000"/>
                </a:solidFill>
                <a:ea typeface="+mn-lt"/>
                <a:cs typeface="+mn-lt"/>
              </a:rPr>
              <a:t>)." </a:t>
            </a:r>
            <a:endParaRPr lang="en-US" dirty="0">
              <a:solidFill>
                <a:srgbClr val="000000"/>
              </a:solidFill>
            </a:endParaRPr>
          </a:p>
          <a:p>
            <a:pPr>
              <a:buClr>
                <a:srgbClr val="262626"/>
              </a:buClr>
            </a:pPr>
            <a:endParaRPr lang="en-US" dirty="0"/>
          </a:p>
          <a:p>
            <a:pPr>
              <a:buClr>
                <a:srgbClr val="262626"/>
              </a:buClr>
            </a:pPr>
            <a:endParaRPr lang="en-US" dirty="0"/>
          </a:p>
        </p:txBody>
      </p:sp>
    </p:spTree>
    <p:extLst>
      <p:ext uri="{BB962C8B-B14F-4D97-AF65-F5344CB8AC3E}">
        <p14:creationId xmlns:p14="http://schemas.microsoft.com/office/powerpoint/2010/main" val="3530678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A03D-E276-7CCA-2669-B092CFF59A6F}"/>
              </a:ext>
            </a:extLst>
          </p:cNvPr>
          <p:cNvSpPr>
            <a:spLocks noGrp="1"/>
          </p:cNvSpPr>
          <p:nvPr>
            <p:ph type="title"/>
          </p:nvPr>
        </p:nvSpPr>
        <p:spPr/>
        <p:txBody>
          <a:bodyPr/>
          <a:lstStyle/>
          <a:p>
            <a:r>
              <a:rPr lang="en-US"/>
              <a:t>Social Media and Body Image</a:t>
            </a:r>
          </a:p>
        </p:txBody>
      </p:sp>
      <p:sp>
        <p:nvSpPr>
          <p:cNvPr id="3" name="Content Placeholder 2">
            <a:extLst>
              <a:ext uri="{FF2B5EF4-FFF2-40B4-BE49-F238E27FC236}">
                <a16:creationId xmlns:a16="http://schemas.microsoft.com/office/drawing/2014/main" id="{292A7A2C-E187-3671-A3E3-E8A425B9FEC0}"/>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"Social media platforms often feature images of people with seemingly perfect faces and bodies, often using filters and photo editing tools to enhance their appearance (</a:t>
            </a:r>
            <a:r>
              <a:rPr lang="en-US" err="1">
                <a:solidFill>
                  <a:srgbClr val="000000"/>
                </a:solidFill>
                <a:ea typeface="+mn-lt"/>
                <a:cs typeface="+mn-lt"/>
              </a:rPr>
              <a:t>psychcentral</a:t>
            </a:r>
            <a:r>
              <a:rPr lang="en-US" dirty="0">
                <a:solidFill>
                  <a:srgbClr val="000000"/>
                </a:solidFill>
                <a:ea typeface="+mn-lt"/>
                <a:cs typeface="+mn-lt"/>
              </a:rPr>
              <a:t>)." </a:t>
            </a:r>
          </a:p>
          <a:p>
            <a:pPr>
              <a:buClr>
                <a:srgbClr val="262626"/>
              </a:buClr>
            </a:pPr>
            <a:r>
              <a:rPr lang="en-US" dirty="0">
                <a:solidFill>
                  <a:srgbClr val="000000"/>
                </a:solidFill>
              </a:rPr>
              <a:t>When people see these posts, they tend to get insecure about the way they look and want to look like said celebrity or influencers.</a:t>
            </a:r>
          </a:p>
          <a:p>
            <a:pPr>
              <a:buClr>
                <a:srgbClr val="262626"/>
              </a:buClr>
            </a:pPr>
            <a:r>
              <a:rPr lang="en-US" dirty="0">
                <a:solidFill>
                  <a:srgbClr val="000000"/>
                </a:solidFill>
              </a:rPr>
              <a:t>It starts off with body dysmorphia "</a:t>
            </a:r>
            <a:r>
              <a:rPr lang="en-US" dirty="0">
                <a:solidFill>
                  <a:srgbClr val="000000"/>
                </a:solidFill>
                <a:latin typeface="Century Gothic"/>
                <a:cs typeface="Arial"/>
              </a:rPr>
              <a:t>People living with BDD are typically preoccupied with at least one nonexistent or slight defect in their physical appearance, and experience repetitive and compulsive behaviors around their appearance, such as mirror checking and reassurance seeking (</a:t>
            </a:r>
            <a:r>
              <a:rPr lang="en-US" dirty="0" err="1">
                <a:solidFill>
                  <a:srgbClr val="000000"/>
                </a:solidFill>
                <a:latin typeface="Century Gothic"/>
                <a:cs typeface="Arial"/>
              </a:rPr>
              <a:t>pyschcentral</a:t>
            </a:r>
            <a:r>
              <a:rPr lang="en-US" dirty="0">
                <a:solidFill>
                  <a:srgbClr val="000000"/>
                </a:solidFill>
                <a:latin typeface="Century Gothic"/>
                <a:cs typeface="Arial"/>
              </a:rPr>
              <a:t>)". </a:t>
            </a:r>
          </a:p>
          <a:p>
            <a:pPr>
              <a:buClr>
                <a:srgbClr val="262626"/>
              </a:buClr>
            </a:pPr>
            <a:r>
              <a:rPr lang="en-US" dirty="0">
                <a:latin typeface="Century Gothic"/>
                <a:cs typeface="Arial"/>
              </a:rPr>
              <a:t>Having body dysmorphia can turn into having an eating disorder such as anorexia or bulimia.</a:t>
            </a:r>
            <a:br>
              <a:rPr lang="en-US" dirty="0">
                <a:solidFill>
                  <a:srgbClr val="000000"/>
                </a:solidFill>
                <a:latin typeface="Century Gothic"/>
                <a:cs typeface="Arial"/>
              </a:rPr>
            </a:br>
            <a:endParaRPr lang="en-US" dirty="0">
              <a:solidFill>
                <a:srgbClr val="000000"/>
              </a:solidFill>
              <a:latin typeface="Century Gothic"/>
              <a:cs typeface="Arial"/>
            </a:endParaRPr>
          </a:p>
        </p:txBody>
      </p:sp>
    </p:spTree>
    <p:extLst>
      <p:ext uri="{BB962C8B-B14F-4D97-AF65-F5344CB8AC3E}">
        <p14:creationId xmlns:p14="http://schemas.microsoft.com/office/powerpoint/2010/main" val="1007640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24B1-3DFC-93FD-B999-BC6CA4995E78}"/>
              </a:ext>
            </a:extLst>
          </p:cNvPr>
          <p:cNvSpPr>
            <a:spLocks noGrp="1"/>
          </p:cNvSpPr>
          <p:nvPr>
            <p:ph type="title"/>
          </p:nvPr>
        </p:nvSpPr>
        <p:spPr/>
        <p:txBody>
          <a:bodyPr/>
          <a:lstStyle/>
          <a:p>
            <a:r>
              <a:rPr lang="en-US"/>
              <a:t>Social Media and Cyberbullying </a:t>
            </a:r>
          </a:p>
        </p:txBody>
      </p:sp>
      <p:sp>
        <p:nvSpPr>
          <p:cNvPr id="3" name="Content Placeholder 2">
            <a:extLst>
              <a:ext uri="{FF2B5EF4-FFF2-40B4-BE49-F238E27FC236}">
                <a16:creationId xmlns:a16="http://schemas.microsoft.com/office/drawing/2014/main" id="{511E639A-BB13-140D-7CCD-BA1B8106370E}"/>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"A 2018 Pew Research Center survey found that 59% of U.S. teens have personally experienced cyberbullying (</a:t>
            </a:r>
            <a:r>
              <a:rPr lang="en-US" dirty="0" err="1">
                <a:solidFill>
                  <a:srgbClr val="000000"/>
                </a:solidFill>
                <a:ea typeface="+mn-lt"/>
                <a:cs typeface="+mn-lt"/>
              </a:rPr>
              <a:t>pyschcentral</a:t>
            </a:r>
            <a:r>
              <a:rPr lang="en-US" dirty="0">
                <a:solidFill>
                  <a:srgbClr val="000000"/>
                </a:solidFill>
                <a:ea typeface="+mn-lt"/>
                <a:cs typeface="+mn-lt"/>
              </a:rPr>
              <a:t>)". </a:t>
            </a:r>
          </a:p>
          <a:p>
            <a:pPr>
              <a:buClr>
                <a:srgbClr val="262626"/>
              </a:buClr>
            </a:pPr>
            <a:r>
              <a:rPr lang="en-US" dirty="0">
                <a:solidFill>
                  <a:srgbClr val="000000"/>
                </a:solidFill>
              </a:rPr>
              <a:t>Cyberbullying consists of making fun of the way someone looks, their body, how they act, or starting false rumors about them.</a:t>
            </a:r>
          </a:p>
          <a:p>
            <a:pPr>
              <a:buClr>
                <a:srgbClr val="262626"/>
              </a:buClr>
            </a:pPr>
            <a:r>
              <a:rPr lang="en-US" dirty="0">
                <a:solidFill>
                  <a:srgbClr val="000000"/>
                </a:solidFill>
              </a:rPr>
              <a:t>Cyberbullying can cause people to develop mental disorders such as anxiety and depression.</a:t>
            </a:r>
          </a:p>
          <a:p>
            <a:pPr>
              <a:buClr>
                <a:srgbClr val="262626"/>
              </a:buClr>
            </a:pPr>
            <a:endParaRPr lang="en-US" dirty="0">
              <a:solidFill>
                <a:srgbClr val="000000"/>
              </a:solidFill>
            </a:endParaRPr>
          </a:p>
        </p:txBody>
      </p:sp>
    </p:spTree>
    <p:extLst>
      <p:ext uri="{BB962C8B-B14F-4D97-AF65-F5344CB8AC3E}">
        <p14:creationId xmlns:p14="http://schemas.microsoft.com/office/powerpoint/2010/main" val="2495381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77D62-2281-4103-3EA4-6FAE22D214CA}"/>
              </a:ext>
            </a:extLst>
          </p:cNvPr>
          <p:cNvSpPr>
            <a:spLocks noGrp="1"/>
          </p:cNvSpPr>
          <p:nvPr>
            <p:ph type="title"/>
          </p:nvPr>
        </p:nvSpPr>
        <p:spPr/>
        <p:txBody>
          <a:bodyPr>
            <a:normAutofit fontScale="90000"/>
          </a:bodyPr>
          <a:lstStyle/>
          <a:p>
            <a:r>
              <a:rPr lang="en-US"/>
              <a:t>Social Media and Self Image Video</a:t>
            </a:r>
          </a:p>
        </p:txBody>
      </p:sp>
      <p:sp>
        <p:nvSpPr>
          <p:cNvPr id="3" name="Content Placeholder 2">
            <a:extLst>
              <a:ext uri="{FF2B5EF4-FFF2-40B4-BE49-F238E27FC236}">
                <a16:creationId xmlns:a16="http://schemas.microsoft.com/office/drawing/2014/main" id="{029C8BF5-1F91-2474-16C3-0792D70302DC}"/>
              </a:ext>
            </a:extLst>
          </p:cNvPr>
          <p:cNvSpPr>
            <a:spLocks noGrp="1"/>
          </p:cNvSpPr>
          <p:nvPr>
            <p:ph idx="1"/>
          </p:nvPr>
        </p:nvSpPr>
        <p:spPr/>
        <p:txBody>
          <a:bodyPr vert="horz" lIns="91440" tIns="45720" rIns="91440" bIns="45720" rtlCol="0" anchor="t">
            <a:normAutofit/>
          </a:bodyPr>
          <a:lstStyle/>
          <a:p>
            <a:r>
              <a:rPr lang="en-US" dirty="0">
                <a:ea typeface="+mn-lt"/>
                <a:cs typeface="+mn-lt"/>
                <a:hlinkClick r:id="rId2"/>
              </a:rPr>
              <a:t>https://www.youtube.com/watch?v=C9N6k3nfwao</a:t>
            </a:r>
            <a:endParaRPr lang="en-US" dirty="0"/>
          </a:p>
        </p:txBody>
      </p:sp>
    </p:spTree>
    <p:extLst>
      <p:ext uri="{BB962C8B-B14F-4D97-AF65-F5344CB8AC3E}">
        <p14:creationId xmlns:p14="http://schemas.microsoft.com/office/powerpoint/2010/main" val="1720812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AEFD-91FA-D39B-BE36-E8E752A879C9}"/>
              </a:ext>
            </a:extLst>
          </p:cNvPr>
          <p:cNvSpPr>
            <a:spLocks noGrp="1"/>
          </p:cNvSpPr>
          <p:nvPr>
            <p:ph type="title"/>
          </p:nvPr>
        </p:nvSpPr>
        <p:spPr/>
        <p:txBody>
          <a:bodyPr/>
          <a:lstStyle/>
          <a:p>
            <a:r>
              <a:rPr lang="en-US"/>
              <a:t>Social Media and Physical Health</a:t>
            </a:r>
          </a:p>
        </p:txBody>
      </p:sp>
      <p:sp>
        <p:nvSpPr>
          <p:cNvPr id="3" name="Content Placeholder 2">
            <a:extLst>
              <a:ext uri="{FF2B5EF4-FFF2-40B4-BE49-F238E27FC236}">
                <a16:creationId xmlns:a16="http://schemas.microsoft.com/office/drawing/2014/main" id="{96C5E616-0DB7-6265-E72C-B5BB18752D3B}"/>
              </a:ext>
            </a:extLst>
          </p:cNvPr>
          <p:cNvSpPr>
            <a:spLocks noGrp="1"/>
          </p:cNvSpPr>
          <p:nvPr>
            <p:ph idx="1"/>
          </p:nvPr>
        </p:nvSpPr>
        <p:spPr/>
        <p:txBody>
          <a:bodyPr vert="horz" lIns="91440" tIns="45720" rIns="91440" bIns="45720" rtlCol="0" anchor="t">
            <a:normAutofit fontScale="92500" lnSpcReduction="20000"/>
          </a:bodyPr>
          <a:lstStyle/>
          <a:p>
            <a:r>
              <a:rPr lang="en-US" dirty="0"/>
              <a:t>We tend to look down at our gadgets when we are using them which cause a strain on the neck and the back.</a:t>
            </a:r>
          </a:p>
          <a:p>
            <a:pPr>
              <a:buClr>
                <a:srgbClr val="262626"/>
              </a:buClr>
            </a:pPr>
            <a:r>
              <a:rPr lang="en-US" dirty="0"/>
              <a:t>When looking straight on at our electronics we still tend to have bad posture which causes back pain. </a:t>
            </a:r>
          </a:p>
          <a:p>
            <a:pPr>
              <a:buClr>
                <a:srgbClr val="262626"/>
              </a:buClr>
            </a:pPr>
            <a:r>
              <a:rPr lang="en-US" dirty="0"/>
              <a:t>"</a:t>
            </a:r>
            <a:r>
              <a:rPr lang="en-US" dirty="0">
                <a:solidFill>
                  <a:srgbClr val="000000"/>
                </a:solidFill>
                <a:ea typeface="+mn-lt"/>
                <a:cs typeface="+mn-lt"/>
              </a:rPr>
              <a:t>As well as back pain from computer use, often caused by poor gaming posture or computer posture, there have also been reports of “selfie elbow” or “texting thumb” caused by technology overuse (</a:t>
            </a:r>
            <a:r>
              <a:rPr lang="en-US" dirty="0" err="1">
                <a:solidFill>
                  <a:srgbClr val="000000"/>
                </a:solidFill>
                <a:ea typeface="+mn-lt"/>
                <a:cs typeface="+mn-lt"/>
              </a:rPr>
              <a:t>kaspersky</a:t>
            </a:r>
            <a:r>
              <a:rPr lang="en-US" dirty="0">
                <a:solidFill>
                  <a:srgbClr val="000000"/>
                </a:solidFill>
                <a:ea typeface="+mn-lt"/>
                <a:cs typeface="+mn-lt"/>
              </a:rPr>
              <a:t>)". </a:t>
            </a:r>
          </a:p>
          <a:p>
            <a:pPr>
              <a:buClr>
                <a:srgbClr val="262626"/>
              </a:buClr>
            </a:pPr>
            <a:r>
              <a:rPr lang="en-US" dirty="0">
                <a:solidFill>
                  <a:srgbClr val="000000"/>
                </a:solidFill>
                <a:ea typeface="+mn-lt"/>
                <a:cs typeface="+mn-lt"/>
              </a:rPr>
              <a:t>Looking at screens for a long period of time isn't very good for our eyes because of the blue light and could cause headaches, dry eyes, and eye strain. </a:t>
            </a:r>
          </a:p>
          <a:p>
            <a:pPr>
              <a:buClr>
                <a:srgbClr val="262626"/>
              </a:buClr>
            </a:pPr>
            <a:r>
              <a:rPr lang="en-US" dirty="0">
                <a:solidFill>
                  <a:srgbClr val="000000"/>
                </a:solidFill>
                <a:ea typeface="+mn-lt"/>
                <a:cs typeface="+mn-lt"/>
              </a:rPr>
              <a:t>It also affects our sleep "This is because the so-called blue light from devices can lead to heightened alertness and disrupt your body clock (</a:t>
            </a:r>
            <a:r>
              <a:rPr lang="en-US" dirty="0" err="1">
                <a:solidFill>
                  <a:srgbClr val="000000"/>
                </a:solidFill>
                <a:ea typeface="+mn-lt"/>
                <a:cs typeface="+mn-lt"/>
              </a:rPr>
              <a:t>kaspersky</a:t>
            </a:r>
            <a:r>
              <a:rPr lang="en-US" dirty="0">
                <a:solidFill>
                  <a:srgbClr val="000000"/>
                </a:solidFill>
                <a:ea typeface="+mn-lt"/>
                <a:cs typeface="+mn-lt"/>
              </a:rPr>
              <a:t>)."</a:t>
            </a:r>
          </a:p>
          <a:p>
            <a:pPr>
              <a:buClr>
                <a:srgbClr val="262626"/>
              </a:buClr>
            </a:pPr>
            <a:r>
              <a:rPr lang="en-US" dirty="0">
                <a:solidFill>
                  <a:srgbClr val="000000"/>
                </a:solidFill>
                <a:ea typeface="+mn-lt"/>
                <a:cs typeface="+mn-lt"/>
              </a:rPr>
              <a:t>Another thing is how technology makes us more </a:t>
            </a:r>
            <a:r>
              <a:rPr lang="en-US" dirty="0" err="1">
                <a:solidFill>
                  <a:srgbClr val="000000"/>
                </a:solidFill>
                <a:ea typeface="+mn-lt"/>
                <a:cs typeface="+mn-lt"/>
              </a:rPr>
              <a:t>physcially</a:t>
            </a:r>
            <a:r>
              <a:rPr lang="en-US" dirty="0">
                <a:solidFill>
                  <a:srgbClr val="000000"/>
                </a:solidFill>
                <a:ea typeface="+mn-lt"/>
                <a:cs typeface="+mn-lt"/>
              </a:rPr>
              <a:t> unactive which is not good for our overall health.</a:t>
            </a:r>
          </a:p>
          <a:p>
            <a:pPr>
              <a:buClr>
                <a:srgbClr val="262626"/>
              </a:buClr>
            </a:pPr>
            <a:r>
              <a:rPr lang="en-US" dirty="0">
                <a:solidFill>
                  <a:srgbClr val="000000"/>
                </a:solidFill>
                <a:ea typeface="+mn-lt"/>
                <a:cs typeface="+mn-lt"/>
              </a:rPr>
              <a:t>"For example, according to one study, 38% of parents worried that their children weren’t getting enough physical exercise due to excessive screen time (</a:t>
            </a:r>
            <a:r>
              <a:rPr lang="en-US" dirty="0" err="1">
                <a:solidFill>
                  <a:srgbClr val="000000"/>
                </a:solidFill>
                <a:ea typeface="+mn-lt"/>
                <a:cs typeface="+mn-lt"/>
              </a:rPr>
              <a:t>kaspersky</a:t>
            </a:r>
            <a:r>
              <a:rPr lang="en-US" dirty="0">
                <a:solidFill>
                  <a:srgbClr val="000000"/>
                </a:solidFill>
                <a:ea typeface="+mn-lt"/>
                <a:cs typeface="+mn-lt"/>
              </a:rPr>
              <a:t>)."</a:t>
            </a:r>
          </a:p>
          <a:p>
            <a:pPr>
              <a:buClr>
                <a:srgbClr val="262626"/>
              </a:buClr>
            </a:pPr>
            <a:endParaRPr lang="en-US" dirty="0">
              <a:solidFill>
                <a:srgbClr val="000000"/>
              </a:solidFill>
              <a:ea typeface="+mn-lt"/>
              <a:cs typeface="+mn-lt"/>
            </a:endParaRPr>
          </a:p>
          <a:p>
            <a:pPr>
              <a:buClr>
                <a:srgbClr val="262626"/>
              </a:buClr>
            </a:pPr>
            <a:endParaRPr lang="en-US" dirty="0">
              <a:solidFill>
                <a:srgbClr val="000000"/>
              </a:solidFill>
              <a:ea typeface="+mn-lt"/>
              <a:cs typeface="+mn-lt"/>
            </a:endParaRPr>
          </a:p>
        </p:txBody>
      </p:sp>
    </p:spTree>
    <p:extLst>
      <p:ext uri="{BB962C8B-B14F-4D97-AF65-F5344CB8AC3E}">
        <p14:creationId xmlns:p14="http://schemas.microsoft.com/office/powerpoint/2010/main" val="1252593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730EB-2EE1-2955-7624-35C39D9C3263}"/>
              </a:ext>
            </a:extLst>
          </p:cNvPr>
          <p:cNvSpPr>
            <a:spLocks noGrp="1"/>
          </p:cNvSpPr>
          <p:nvPr>
            <p:ph type="title"/>
          </p:nvPr>
        </p:nvSpPr>
        <p:spPr/>
        <p:txBody>
          <a:bodyPr/>
          <a:lstStyle/>
          <a:p>
            <a:r>
              <a:rPr lang="en-US"/>
              <a:t>The Positives Technology </a:t>
            </a:r>
          </a:p>
        </p:txBody>
      </p:sp>
      <p:sp>
        <p:nvSpPr>
          <p:cNvPr id="3" name="Content Placeholder 2">
            <a:extLst>
              <a:ext uri="{FF2B5EF4-FFF2-40B4-BE49-F238E27FC236}">
                <a16:creationId xmlns:a16="http://schemas.microsoft.com/office/drawing/2014/main" id="{D18AE541-D304-4DC3-7631-9DFA2B073F0D}"/>
              </a:ext>
            </a:extLst>
          </p:cNvPr>
          <p:cNvSpPr>
            <a:spLocks noGrp="1"/>
          </p:cNvSpPr>
          <p:nvPr>
            <p:ph idx="1"/>
          </p:nvPr>
        </p:nvSpPr>
        <p:spPr/>
        <p:txBody>
          <a:bodyPr vert="horz" lIns="91440" tIns="45720" rIns="91440" bIns="45720" rtlCol="0" anchor="t">
            <a:normAutofit lnSpcReduction="10000"/>
          </a:bodyPr>
          <a:lstStyle/>
          <a:p>
            <a:r>
              <a:rPr lang="en-US" dirty="0"/>
              <a:t>Although social media was a negative it honestly brings many positives as well such as communication and entertainment. </a:t>
            </a:r>
          </a:p>
          <a:p>
            <a:pPr>
              <a:buClr>
                <a:srgbClr val="262626"/>
              </a:buClr>
            </a:pPr>
            <a:r>
              <a:rPr lang="en-US" dirty="0"/>
              <a:t>Technology was the reason social media could be created but it's not technology's fault that people are being negatively affected by it, that's our fault as humans.</a:t>
            </a:r>
          </a:p>
          <a:p>
            <a:pPr>
              <a:buClr>
                <a:srgbClr val="262626"/>
              </a:buClr>
            </a:pPr>
            <a:r>
              <a:rPr lang="en-US" dirty="0"/>
              <a:t>Technology as improved our healthcare immensely and without the development of technology that we had, we would not be to cure as many illnesses or help people to a certain extent. </a:t>
            </a:r>
          </a:p>
          <a:p>
            <a:pPr>
              <a:buClr>
                <a:srgbClr val="262626"/>
              </a:buClr>
            </a:pPr>
            <a:r>
              <a:rPr lang="en-US" dirty="0"/>
              <a:t>The Internet is something that we use everyday and would not be in the state we are now without it. </a:t>
            </a:r>
          </a:p>
          <a:p>
            <a:pPr>
              <a:buClr>
                <a:srgbClr val="262626"/>
              </a:buClr>
            </a:pPr>
            <a:r>
              <a:rPr lang="en-US" dirty="0"/>
              <a:t>We use the internet for school, work, entertainment, shopping, and a lot more and without the internet life would be a lot harder. </a:t>
            </a:r>
          </a:p>
          <a:p>
            <a:pPr>
              <a:buClr>
                <a:srgbClr val="262626"/>
              </a:buClr>
            </a:pPr>
            <a:r>
              <a:rPr lang="en-US" dirty="0"/>
              <a:t>Even without everyday appliances like fridges, heaters, conditioning, showers, and much more we would be living a very different life then the one we are living now. </a:t>
            </a:r>
          </a:p>
        </p:txBody>
      </p:sp>
    </p:spTree>
    <p:extLst>
      <p:ext uri="{BB962C8B-B14F-4D97-AF65-F5344CB8AC3E}">
        <p14:creationId xmlns:p14="http://schemas.microsoft.com/office/powerpoint/2010/main" val="2884940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4AA98-B0A4-A735-81E0-6E5F89F3C96B}"/>
              </a:ext>
            </a:extLst>
          </p:cNvPr>
          <p:cNvSpPr>
            <a:spLocks noGrp="1"/>
          </p:cNvSpPr>
          <p:nvPr>
            <p:ph type="title"/>
          </p:nvPr>
        </p:nvSpPr>
        <p:spPr/>
        <p:txBody>
          <a:bodyPr/>
          <a:lstStyle/>
          <a:p>
            <a:r>
              <a:rPr lang="en-US"/>
              <a:t>Overall </a:t>
            </a:r>
          </a:p>
        </p:txBody>
      </p:sp>
      <p:sp>
        <p:nvSpPr>
          <p:cNvPr id="3" name="Content Placeholder 2">
            <a:extLst>
              <a:ext uri="{FF2B5EF4-FFF2-40B4-BE49-F238E27FC236}">
                <a16:creationId xmlns:a16="http://schemas.microsoft.com/office/drawing/2014/main" id="{8E27BF9A-C715-D6E0-714A-41C6A61FB795}"/>
              </a:ext>
            </a:extLst>
          </p:cNvPr>
          <p:cNvSpPr>
            <a:spLocks noGrp="1"/>
          </p:cNvSpPr>
          <p:nvPr>
            <p:ph idx="1"/>
          </p:nvPr>
        </p:nvSpPr>
        <p:spPr/>
        <p:txBody>
          <a:bodyPr vert="horz" lIns="91440" tIns="45720" rIns="91440" bIns="45720" rtlCol="0" anchor="t">
            <a:normAutofit/>
          </a:bodyPr>
          <a:lstStyle/>
          <a:p>
            <a:r>
              <a:rPr lang="en-US" sz="2800" dirty="0"/>
              <a:t>Overall technology does come with its pros and its cons, but when you look deeper the only reason, we have cons is our faults as human beings. Technology has given us so much in today's world to the point that if we go without it, we would be living a completely different life and that life would not be very good. As long as we learn as a community on how to use technology correctly then we would be fine.</a:t>
            </a:r>
          </a:p>
        </p:txBody>
      </p:sp>
    </p:spTree>
    <p:extLst>
      <p:ext uri="{BB962C8B-B14F-4D97-AF65-F5344CB8AC3E}">
        <p14:creationId xmlns:p14="http://schemas.microsoft.com/office/powerpoint/2010/main" val="2740453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5B075-205D-C275-FD30-2C741FFC5F8D}"/>
              </a:ext>
            </a:extLst>
          </p:cNvPr>
          <p:cNvSpPr>
            <a:spLocks noGrp="1"/>
          </p:cNvSpPr>
          <p:nvPr>
            <p:ph type="title"/>
          </p:nvPr>
        </p:nvSpPr>
        <p:spPr/>
        <p:txBody>
          <a:bodyPr/>
          <a:lstStyle/>
          <a:p>
            <a:r>
              <a:rPr lang="en-US"/>
              <a:t>Digital Wellbeing video</a:t>
            </a:r>
          </a:p>
        </p:txBody>
      </p:sp>
      <p:sp>
        <p:nvSpPr>
          <p:cNvPr id="3" name="Content Placeholder 2">
            <a:extLst>
              <a:ext uri="{FF2B5EF4-FFF2-40B4-BE49-F238E27FC236}">
                <a16:creationId xmlns:a16="http://schemas.microsoft.com/office/drawing/2014/main" id="{0EA587E5-FCE6-D243-FF31-8F57C20A3920}"/>
              </a:ext>
            </a:extLst>
          </p:cNvPr>
          <p:cNvSpPr>
            <a:spLocks noGrp="1"/>
          </p:cNvSpPr>
          <p:nvPr>
            <p:ph idx="1"/>
          </p:nvPr>
        </p:nvSpPr>
        <p:spPr/>
        <p:txBody>
          <a:bodyPr vert="horz" lIns="91440" tIns="45720" rIns="91440" bIns="45720" rtlCol="0" anchor="t">
            <a:normAutofit/>
          </a:bodyPr>
          <a:lstStyle/>
          <a:p>
            <a:r>
              <a:rPr lang="en-US" dirty="0">
                <a:ea typeface="+mn-lt"/>
                <a:cs typeface="+mn-lt"/>
                <a:hlinkClick r:id="rId2"/>
              </a:rPr>
              <a:t>https://www.youtube.com/watch?v=L7rB_Iwlh8M</a:t>
            </a:r>
            <a:endParaRPr lang="en-US"/>
          </a:p>
        </p:txBody>
      </p:sp>
    </p:spTree>
    <p:extLst>
      <p:ext uri="{BB962C8B-B14F-4D97-AF65-F5344CB8AC3E}">
        <p14:creationId xmlns:p14="http://schemas.microsoft.com/office/powerpoint/2010/main" val="3362257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4F14D-B1A3-C946-1C23-D688BB3158BC}"/>
              </a:ext>
            </a:extLst>
          </p:cNvPr>
          <p:cNvSpPr>
            <a:spLocks noGrp="1"/>
          </p:cNvSpPr>
          <p:nvPr>
            <p:ph type="title"/>
          </p:nvPr>
        </p:nvSpPr>
        <p:spPr/>
        <p:txBody>
          <a:bodyPr/>
          <a:lstStyle/>
          <a:p>
            <a:r>
              <a:rPr lang="en-US"/>
              <a:t>Refrences </a:t>
            </a:r>
          </a:p>
        </p:txBody>
      </p:sp>
      <p:sp>
        <p:nvSpPr>
          <p:cNvPr id="3" name="Content Placeholder 2">
            <a:extLst>
              <a:ext uri="{FF2B5EF4-FFF2-40B4-BE49-F238E27FC236}">
                <a16:creationId xmlns:a16="http://schemas.microsoft.com/office/drawing/2014/main" id="{58FD17A2-173A-4656-BD55-E89C5F74E2C4}"/>
              </a:ext>
            </a:extLst>
          </p:cNvPr>
          <p:cNvSpPr>
            <a:spLocks noGrp="1"/>
          </p:cNvSpPr>
          <p:nvPr>
            <p:ph idx="1"/>
          </p:nvPr>
        </p:nvSpPr>
        <p:spPr/>
        <p:txBody>
          <a:bodyPr vert="horz" lIns="91440" tIns="45720" rIns="91440" bIns="45720" rtlCol="0" anchor="t">
            <a:noAutofit/>
          </a:bodyPr>
          <a:lstStyle/>
          <a:p>
            <a:r>
              <a:rPr lang="en-US" sz="1600" dirty="0">
                <a:ea typeface="+mn-lt"/>
                <a:cs typeface="+mn-lt"/>
              </a:rPr>
              <a:t>“Is Technology Use Leading to the Demise of Our Mental Health and Well-Being?” </a:t>
            </a:r>
            <a:r>
              <a:rPr lang="en-US" sz="1600" i="1" dirty="0">
                <a:ea typeface="+mn-lt"/>
                <a:cs typeface="+mn-lt"/>
              </a:rPr>
              <a:t>American Sociological Association</a:t>
            </a:r>
            <a:r>
              <a:rPr lang="en-US" sz="1600" dirty="0">
                <a:ea typeface="+mn-lt"/>
                <a:cs typeface="+mn-lt"/>
              </a:rPr>
              <a:t>, 28 Nov. 2022, </a:t>
            </a:r>
            <a:r>
              <a:rPr lang="en-US" sz="1600" dirty="0">
                <a:ea typeface="+mn-lt"/>
                <a:cs typeface="+mn-lt"/>
                <a:hlinkClick r:id="rId2"/>
              </a:rPr>
              <a:t>www.asanet.org/footnotes-article/technology-use-leading-demise-our-mental-health-and-well-being/</a:t>
            </a:r>
            <a:r>
              <a:rPr lang="en-US" sz="1600" dirty="0">
                <a:ea typeface="+mn-lt"/>
                <a:cs typeface="+mn-lt"/>
              </a:rPr>
              <a:t>. </a:t>
            </a:r>
            <a:endParaRPr lang="en-US" sz="1600" dirty="0"/>
          </a:p>
          <a:p>
            <a:pPr>
              <a:buClr>
                <a:srgbClr val="262626"/>
              </a:buClr>
            </a:pPr>
            <a:r>
              <a:rPr lang="en-US" sz="1600" dirty="0">
                <a:latin typeface="Times New Roman"/>
                <a:cs typeface="Times New Roman"/>
              </a:rPr>
              <a:t>References:</a:t>
            </a:r>
          </a:p>
          <a:p>
            <a:pPr>
              <a:buClr>
                <a:srgbClr val="262626"/>
              </a:buClr>
            </a:pPr>
            <a:r>
              <a:rPr lang="en-US" sz="1600" dirty="0">
                <a:latin typeface="Times New Roman"/>
                <a:cs typeface="Times New Roman"/>
              </a:rPr>
              <a:t>Kaspersky. “How Does Technology Affect Your Physical Health?” </a:t>
            </a:r>
            <a:r>
              <a:rPr lang="en-US" sz="1600" i="1" err="1">
                <a:latin typeface="Times New Roman"/>
                <a:cs typeface="Times New Roman"/>
              </a:rPr>
              <a:t>Usa.Kaspersky.Com</a:t>
            </a:r>
            <a:r>
              <a:rPr lang="en-US" sz="1600" dirty="0">
                <a:latin typeface="Times New Roman"/>
                <a:cs typeface="Times New Roman"/>
              </a:rPr>
              <a:t>, 5 Sept. 2023, </a:t>
            </a:r>
            <a:r>
              <a:rPr lang="en-US" sz="1600" dirty="0">
                <a:ea typeface="+mn-lt"/>
                <a:cs typeface="+mn-lt"/>
                <a:hlinkClick r:id="rId3"/>
              </a:rPr>
              <a:t>usa.kaspersky.com/resource-center/preemptive-safety/impacts-of-technology-on-health</a:t>
            </a:r>
            <a:r>
              <a:rPr lang="en-US" sz="1600" dirty="0">
                <a:latin typeface="Times New Roman"/>
                <a:cs typeface="Times New Roman"/>
              </a:rPr>
              <a:t>. </a:t>
            </a:r>
          </a:p>
          <a:p>
            <a:pPr>
              <a:buClr>
                <a:srgbClr val="262626"/>
              </a:buClr>
            </a:pPr>
            <a:r>
              <a:rPr lang="en-US" sz="1600" dirty="0">
                <a:latin typeface="Times New Roman"/>
                <a:cs typeface="Times New Roman"/>
              </a:rPr>
              <a:t>Kinghorn, Kathy, and Brannon Patrick. “The Impact of Heavy Technology Use on Mental Health.” </a:t>
            </a:r>
            <a:r>
              <a:rPr lang="en-US" sz="1600" i="1" dirty="0">
                <a:latin typeface="Times New Roman"/>
                <a:cs typeface="Times New Roman"/>
              </a:rPr>
              <a:t>Therapy Utah</a:t>
            </a:r>
            <a:r>
              <a:rPr lang="en-US" sz="1600" dirty="0">
                <a:latin typeface="Times New Roman"/>
                <a:cs typeface="Times New Roman"/>
              </a:rPr>
              <a:t>, 27 June 2023, </a:t>
            </a:r>
            <a:r>
              <a:rPr lang="en-US" sz="1600" dirty="0">
                <a:ea typeface="+mn-lt"/>
                <a:cs typeface="+mn-lt"/>
                <a:hlinkClick r:id="rId4"/>
              </a:rPr>
              <a:t>therapyutah.org/impact-of-heavy-technology-use-on-mental-health/</a:t>
            </a:r>
            <a:r>
              <a:rPr lang="en-US" sz="1600" dirty="0">
                <a:latin typeface="Times New Roman"/>
                <a:cs typeface="Times New Roman"/>
              </a:rPr>
              <a:t>. </a:t>
            </a:r>
          </a:p>
          <a:p>
            <a:pPr>
              <a:buClr>
                <a:srgbClr val="262626"/>
              </a:buClr>
            </a:pPr>
            <a:r>
              <a:rPr lang="en-US" sz="1600" dirty="0">
                <a:latin typeface="Times New Roman"/>
                <a:cs typeface="Times New Roman"/>
              </a:rPr>
              <a:t>Navarro, Lara, et al. “9 Positive Effects of Technology on Society Explained.” </a:t>
            </a:r>
            <a:r>
              <a:rPr lang="en-US" sz="1600" i="1" dirty="0">
                <a:latin typeface="Times New Roman"/>
                <a:cs typeface="Times New Roman"/>
              </a:rPr>
              <a:t>The Switch</a:t>
            </a:r>
            <a:r>
              <a:rPr lang="en-US" sz="1600" dirty="0">
                <a:latin typeface="Times New Roman"/>
                <a:cs typeface="Times New Roman"/>
              </a:rPr>
              <a:t>, </a:t>
            </a:r>
            <a:r>
              <a:rPr lang="en-US" sz="1600" err="1">
                <a:latin typeface="Times New Roman"/>
                <a:cs typeface="Times New Roman"/>
              </a:rPr>
              <a:t>SwitchLiving</a:t>
            </a:r>
            <a:r>
              <a:rPr lang="en-US" sz="1600" dirty="0">
                <a:latin typeface="Times New Roman"/>
                <a:cs typeface="Times New Roman"/>
              </a:rPr>
              <a:t>, 7 Feb. 2024, </a:t>
            </a:r>
            <a:r>
              <a:rPr lang="en-US" sz="1600" dirty="0">
                <a:ea typeface="+mn-lt"/>
                <a:cs typeface="+mn-lt"/>
                <a:hlinkClick r:id="rId5"/>
              </a:rPr>
              <a:t>www.switchliving.com.au/student-guide/technology-and-trends/technology-positive-impact-on-society/</a:t>
            </a:r>
            <a:r>
              <a:rPr lang="en-US" sz="1600" dirty="0">
                <a:latin typeface="Times New Roman"/>
                <a:cs typeface="Times New Roman"/>
              </a:rPr>
              <a:t>. </a:t>
            </a:r>
          </a:p>
          <a:p>
            <a:pPr>
              <a:buClr>
                <a:srgbClr val="262626"/>
              </a:buClr>
            </a:pPr>
            <a:r>
              <a:rPr lang="en-US" sz="1600" dirty="0">
                <a:latin typeface="Times New Roman"/>
                <a:cs typeface="Times New Roman"/>
              </a:rPr>
              <a:t>Pedersen, Traci. “Social Media and Body Image: What’s the Link?” </a:t>
            </a:r>
            <a:r>
              <a:rPr lang="en-US" sz="1600" i="1" dirty="0">
                <a:latin typeface="Times New Roman"/>
                <a:cs typeface="Times New Roman"/>
              </a:rPr>
              <a:t>Psych Central</a:t>
            </a:r>
            <a:r>
              <a:rPr lang="en-US" sz="1600" dirty="0">
                <a:latin typeface="Times New Roman"/>
                <a:cs typeface="Times New Roman"/>
              </a:rPr>
              <a:t>, Psych Central, 27 Feb. 2023, </a:t>
            </a:r>
            <a:r>
              <a:rPr lang="en-US" sz="1600" dirty="0">
                <a:ea typeface="+mn-lt"/>
                <a:cs typeface="+mn-lt"/>
                <a:hlinkClick r:id="rId6"/>
              </a:rPr>
              <a:t>psychcentral.com/health/how-the-media-affects-body-image#:~:text=Social%20media%20can%20have%20a,beauty%20standards%20and%20unhealthy%20comparisons</a:t>
            </a:r>
            <a:r>
              <a:rPr lang="en-US" sz="1600" dirty="0">
                <a:latin typeface="Times New Roman"/>
                <a:cs typeface="Times New Roman"/>
              </a:rPr>
              <a:t>.  </a:t>
            </a:r>
          </a:p>
          <a:p>
            <a:pPr>
              <a:buClr>
                <a:srgbClr val="262626"/>
              </a:buClr>
            </a:pPr>
            <a:endParaRPr lang="en-US" sz="1600" dirty="0"/>
          </a:p>
        </p:txBody>
      </p:sp>
    </p:spTree>
    <p:extLst>
      <p:ext uri="{BB962C8B-B14F-4D97-AF65-F5344CB8AC3E}">
        <p14:creationId xmlns:p14="http://schemas.microsoft.com/office/powerpoint/2010/main" val="11277718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Savon</vt:lpstr>
      <vt:lpstr>How Technology Affects people </vt:lpstr>
      <vt:lpstr>Technology Use </vt:lpstr>
      <vt:lpstr>Technology is Addicted</vt:lpstr>
      <vt:lpstr>Mental Health In Kids, Teenagers, and Young Adults</vt:lpstr>
      <vt:lpstr>Social Media and Body Image</vt:lpstr>
      <vt:lpstr>Social Media and Cyberbullying </vt:lpstr>
      <vt:lpstr>Social Media and Self Image Video</vt:lpstr>
      <vt:lpstr>Social Media and Physical Health</vt:lpstr>
      <vt:lpstr>The Positives Technology </vt:lpstr>
      <vt:lpstr>Overall </vt:lpstr>
      <vt:lpstr>Digital Wellbeing video</vt:lpstr>
      <vt:lpstr>Refrences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429</cp:revision>
  <dcterms:created xsi:type="dcterms:W3CDTF">2024-03-26T19:02:28Z</dcterms:created>
  <dcterms:modified xsi:type="dcterms:W3CDTF">2024-03-26T22:15:03Z</dcterms:modified>
</cp:coreProperties>
</file>